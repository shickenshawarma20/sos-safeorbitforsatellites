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ickenShawarma20/SOS-SafeOrbitForSatellite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2104167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384843" y="451296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t"/>
            <a:r>
              <a:rPr lang="en-IN" b="1" u="sng" dirty="0">
                <a:hlinkClick r:id="rId3"/>
              </a:rPr>
              <a:t>SOS-</a:t>
            </a:r>
            <a:r>
              <a:rPr lang="en-IN" b="1" u="sng" dirty="0" err="1">
                <a:hlinkClick r:id="rId3"/>
              </a:rPr>
              <a:t>SafeOrbitForSatellites</a:t>
            </a:r>
            <a:endParaRPr lang="en-IN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1450" y="1715881"/>
            <a:ext cx="5924550" cy="4757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0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600" b="1" i="0" dirty="0">
                <a:solidFill>
                  <a:srgbClr val="0B1F3A"/>
                </a:solidFill>
                <a:latin typeface="Arial"/>
              </a:rPr>
              <a:t>Problem Statement ID –</a:t>
            </a:r>
            <a:r>
              <a:rPr lang="en-IN" sz="1600" b="1" i="0" dirty="0">
                <a:solidFill>
                  <a:srgbClr val="0B1F3A"/>
                </a:solidFill>
                <a:latin typeface="Arial"/>
              </a:rPr>
              <a:t> </a:t>
            </a:r>
            <a:r>
              <a:rPr lang="en-IN" b="1" dirty="0"/>
              <a:t>SIH028</a:t>
            </a:r>
            <a:endParaRPr lang="en-IN" sz="1600" b="1" i="0" dirty="0">
              <a:solidFill>
                <a:srgbClr val="0B1F3A"/>
              </a:solidFill>
              <a:latin typeface="Arial"/>
            </a:endParaRPr>
          </a:p>
          <a:p>
            <a:pPr marL="285750" indent="-285750" algn="just">
              <a:lnSpc>
                <a:spcPct val="20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600" b="1" i="0" dirty="0">
                <a:solidFill>
                  <a:srgbClr val="0B1F3A"/>
                </a:solidFill>
                <a:latin typeface="Arial"/>
              </a:rPr>
              <a:t>Problem Statement Title-</a:t>
            </a:r>
            <a:r>
              <a:rPr sz="1600" b="0" i="0" dirty="0">
                <a:solidFill>
                  <a:srgbClr val="1A1A1A"/>
                </a:solidFill>
                <a:latin typeface="Arial"/>
              </a:rPr>
              <a:t> Space Situational Awareness &amp; Autonomous Satellite Collision Avoidance System</a:t>
            </a:r>
          </a:p>
          <a:p>
            <a:pPr marL="285750" indent="-285750" algn="just">
              <a:lnSpc>
                <a:spcPct val="20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600" b="1" i="0" dirty="0">
                <a:solidFill>
                  <a:srgbClr val="0B1F3A"/>
                </a:solidFill>
                <a:latin typeface="Arial"/>
              </a:rPr>
              <a:t>Theme-</a:t>
            </a:r>
            <a:r>
              <a:rPr sz="1600" b="0" i="0" dirty="0">
                <a:solidFill>
                  <a:srgbClr val="1A1A1A"/>
                </a:solidFill>
                <a:latin typeface="Arial"/>
              </a:rPr>
              <a:t> Space Technology</a:t>
            </a:r>
          </a:p>
          <a:p>
            <a:pPr marL="285750" indent="-285750" algn="just">
              <a:lnSpc>
                <a:spcPct val="20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600" b="1" i="0" dirty="0">
                <a:solidFill>
                  <a:srgbClr val="0B1F3A"/>
                </a:solidFill>
                <a:latin typeface="Arial"/>
              </a:rPr>
              <a:t>PS Category-</a:t>
            </a:r>
            <a:r>
              <a:rPr sz="1600" b="0" i="0" dirty="0">
                <a:solidFill>
                  <a:srgbClr val="1A1A1A"/>
                </a:solidFill>
                <a:latin typeface="Arial"/>
              </a:rPr>
              <a:t> Software</a:t>
            </a:r>
          </a:p>
          <a:p>
            <a:pPr marL="285750" indent="-285750" algn="just">
              <a:lnSpc>
                <a:spcPct val="20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600" b="1" i="0" dirty="0">
                <a:solidFill>
                  <a:srgbClr val="0B1F3A"/>
                </a:solidFill>
                <a:latin typeface="Arial"/>
              </a:rPr>
              <a:t>Team ID-</a:t>
            </a:r>
            <a:r>
              <a:rPr sz="1600" b="0" i="0" dirty="0">
                <a:solidFill>
                  <a:srgbClr val="1A1A1A"/>
                </a:solidFill>
                <a:latin typeface="Arial"/>
              </a:rPr>
              <a:t> </a:t>
            </a:r>
            <a:endParaRPr lang="en-IN" sz="1600" b="0" i="0" dirty="0">
              <a:solidFill>
                <a:srgbClr val="1A1A1A"/>
              </a:solidFill>
              <a:latin typeface="Arial"/>
            </a:endParaRPr>
          </a:p>
          <a:p>
            <a:pPr marL="285750" indent="-285750" algn="just">
              <a:lnSpc>
                <a:spcPct val="20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600" b="1" i="0" dirty="0">
                <a:solidFill>
                  <a:srgbClr val="0B1F3A"/>
                </a:solidFill>
                <a:latin typeface="Arial"/>
              </a:rPr>
              <a:t>Team Name (Registered on portal)-</a:t>
            </a:r>
            <a:r>
              <a:rPr sz="1600" b="0" i="0" dirty="0">
                <a:solidFill>
                  <a:srgbClr val="1A1A1A"/>
                </a:solidFill>
                <a:latin typeface="Arial"/>
              </a:rPr>
              <a:t> </a:t>
            </a:r>
            <a:r>
              <a:rPr lang="en-IN" sz="1600" b="0" i="0" dirty="0" err="1">
                <a:solidFill>
                  <a:srgbClr val="1A1A1A"/>
                </a:solidFill>
                <a:latin typeface="Arial"/>
              </a:rPr>
              <a:t>SixthSense</a:t>
            </a:r>
            <a:endParaRPr lang="en-IN" sz="1600" b="0" i="0" dirty="0">
              <a:solidFill>
                <a:srgbClr val="1A1A1A"/>
              </a:solidFill>
              <a:latin typeface="Arial"/>
            </a:endParaRPr>
          </a:p>
          <a:p>
            <a:pPr marL="285750" indent="-285750" algn="just">
              <a:lnSpc>
                <a:spcPct val="20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600" b="1" i="0" dirty="0">
                <a:solidFill>
                  <a:srgbClr val="0B1F3A"/>
                </a:solidFill>
                <a:latin typeface="Arial"/>
              </a:rPr>
              <a:t>Project-</a:t>
            </a:r>
            <a:r>
              <a:rPr sz="1600" b="0" i="0" dirty="0">
                <a:solidFill>
                  <a:srgbClr val="1A1A1A"/>
                </a:solidFill>
                <a:latin typeface="Arial"/>
              </a:rPr>
              <a:t> SOS (Safe Orbit for Satellites)</a:t>
            </a:r>
            <a:endParaRPr lang="en-IN" sz="1600" b="0" i="0" dirty="0">
              <a:solidFill>
                <a:srgbClr val="1A1A1A"/>
              </a:solidFill>
              <a:latin typeface="Arial"/>
            </a:endParaRPr>
          </a:p>
          <a:p>
            <a:pPr marL="228600" indent="-228600" algn="just">
              <a:spcAft>
                <a:spcPts val="500"/>
              </a:spcAft>
              <a:buFont typeface="Arial"/>
              <a:buChar char="•"/>
            </a:pPr>
            <a:r>
              <a:rPr lang="en-IN" sz="1600" b="1" i="0" dirty="0">
                <a:solidFill>
                  <a:srgbClr val="0B1F3A"/>
                </a:solidFill>
                <a:latin typeface="Arial"/>
              </a:rPr>
              <a:t>Tagline-</a:t>
            </a:r>
            <a:r>
              <a:rPr lang="en-IN" sz="1600" b="0" i="1" dirty="0">
                <a:solidFill>
                  <a:srgbClr val="1A1A1A"/>
                </a:solidFill>
                <a:latin typeface="Arial"/>
              </a:rPr>
              <a:t> Autonomous SSA &amp; Collision Avoidance Flight Director Console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29773" y="-307456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29773" y="1173881"/>
            <a:ext cx="11277600" cy="483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Wingdings" panose="05000000000000000000" pitchFamily="2" charset="2"/>
              <a:buNone/>
            </a:pPr>
            <a:r>
              <a:rPr sz="1600" b="1" i="0" u="sng" dirty="0">
                <a:solidFill>
                  <a:srgbClr val="0B1F3A"/>
                </a:solidFill>
                <a:latin typeface="Arial"/>
              </a:rPr>
              <a:t>SOS — Safe Orbit for Satellites</a:t>
            </a:r>
            <a:r>
              <a:rPr sz="1600" b="1" i="1" u="sng" dirty="0">
                <a:solidFill>
                  <a:srgbClr val="1A1A1A"/>
                </a:solidFill>
                <a:latin typeface="Arial"/>
              </a:rPr>
              <a:t>   |   Full-stack SSA &amp; autonomous collision avoidance for LEO satellites</a:t>
            </a:r>
            <a:endParaRPr lang="en-US" sz="1600" b="1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IN" sz="1400" b="1" i="0" u="sng" dirty="0">
              <a:solidFill>
                <a:srgbClr val="0070C0"/>
              </a:solidFill>
              <a:latin typeface="Arial"/>
            </a:endParaRPr>
          </a:p>
          <a:p>
            <a:pPr>
              <a:buNone/>
            </a:pPr>
            <a:r>
              <a:rPr sz="1400" b="1" i="0" u="sng" dirty="0">
                <a:solidFill>
                  <a:srgbClr val="0070C0"/>
                </a:solidFill>
                <a:latin typeface="Arial"/>
              </a:rPr>
              <a:t>Key Features</a:t>
            </a:r>
          </a:p>
          <a:p>
            <a:pPr marL="228600" indent="-228600">
              <a:buFont typeface="Arial"/>
              <a:buChar char="•"/>
            </a:pPr>
            <a:r>
              <a:rPr sz="1400" b="1" i="0" dirty="0">
                <a:solidFill>
                  <a:srgbClr val="0B1F3A"/>
                </a:solidFill>
                <a:latin typeface="Arial"/>
              </a:rPr>
              <a:t>3D Orbital Digital Twin: </a:t>
            </a:r>
            <a:r>
              <a:rPr sz="1400" b="0" i="0" dirty="0">
                <a:solidFill>
                  <a:srgbClr val="1A1A1A"/>
                </a:solidFill>
                <a:latin typeface="Arial"/>
              </a:rPr>
              <a:t>WebGL Earth globe (Three.js) with real Keplerian propagation (ECI frame) — actual orbits, not animations.</a:t>
            </a:r>
          </a:p>
          <a:p>
            <a:pPr marL="228600" indent="-228600">
              <a:buFont typeface="Arial"/>
              <a:buChar char="•"/>
            </a:pPr>
            <a:r>
              <a:rPr sz="1400" b="1" i="0" dirty="0">
                <a:solidFill>
                  <a:srgbClr val="0B1F3A"/>
                </a:solidFill>
                <a:latin typeface="Arial"/>
              </a:rPr>
              <a:t>Conjunction Detection: </a:t>
            </a:r>
            <a:r>
              <a:rPr sz="1400" b="0" i="0" dirty="0">
                <a:solidFill>
                  <a:srgbClr val="1A1A1A"/>
                </a:solidFill>
                <a:latin typeface="Arial"/>
              </a:rPr>
              <a:t>Screens ~21,430 tracked objects; computes TCA, miss distance &amp; Pc via Foster 2D Gaussian integrator (B-plane).</a:t>
            </a:r>
          </a:p>
          <a:p>
            <a:pPr marL="228600" indent="-228600">
              <a:buFont typeface="Arial"/>
              <a:buChar char="•"/>
            </a:pPr>
            <a:r>
              <a:rPr sz="1400" b="1" i="0" dirty="0">
                <a:solidFill>
                  <a:srgbClr val="0B1F3A"/>
                </a:solidFill>
                <a:latin typeface="Arial"/>
              </a:rPr>
              <a:t>AI Flight Director: </a:t>
            </a:r>
            <a:r>
              <a:rPr sz="1400" b="0" i="0" dirty="0">
                <a:solidFill>
                  <a:srgbClr val="1A1A1A"/>
                </a:solidFill>
                <a:latin typeface="Arial"/>
              </a:rPr>
              <a:t>Generates burn epoch, ΔV vector, risk class &amp; telecommand checklist; deterministic astrodynamics fallback.</a:t>
            </a:r>
          </a:p>
          <a:p>
            <a:pPr marL="228600" indent="-228600">
              <a:buFont typeface="Arial"/>
              <a:buChar char="•"/>
            </a:pPr>
            <a:r>
              <a:rPr sz="1400" b="1" i="0" dirty="0">
                <a:solidFill>
                  <a:srgbClr val="0B1F3A"/>
                </a:solidFill>
                <a:latin typeface="Arial"/>
              </a:rPr>
              <a:t>Maneuver Planner &amp; Sim Lab: </a:t>
            </a:r>
            <a:r>
              <a:rPr sz="1400" b="0" i="0" dirty="0">
                <a:solidFill>
                  <a:srgbClr val="1A1A1A"/>
                </a:solidFill>
                <a:latin typeface="Arial"/>
              </a:rPr>
              <a:t>Candidate burns (prograde/retrograde/radial/cross-track), Tsiolkovsky propellant cost, 72h post-burn re-screen.</a:t>
            </a:r>
          </a:p>
          <a:p>
            <a:pPr marL="228600" indent="-228600">
              <a:buFont typeface="Arial"/>
              <a:buChar char="•"/>
            </a:pPr>
            <a:r>
              <a:rPr sz="1400" b="1" i="0" dirty="0">
                <a:solidFill>
                  <a:srgbClr val="0B1F3A"/>
                </a:solidFill>
                <a:latin typeface="Arial"/>
              </a:rPr>
              <a:t>Autonomous Autopilot: </a:t>
            </a:r>
            <a:r>
              <a:rPr sz="1400" b="0" i="0" dirty="0">
                <a:solidFill>
                  <a:srgbClr val="1A1A1A"/>
                </a:solidFill>
                <a:latin typeface="Arial"/>
              </a:rPr>
              <a:t>Closed-loop auto-burn when Pc exceeds threshold; 5-stage pipeline (sign → slew → burn → orbit det. → re-screen).</a:t>
            </a:r>
          </a:p>
          <a:p>
            <a:pPr marL="228600" indent="-228600">
              <a:buFont typeface="Arial"/>
              <a:buChar char="•"/>
            </a:pPr>
            <a:r>
              <a:rPr sz="1400" b="1" i="0" dirty="0">
                <a:solidFill>
                  <a:srgbClr val="0B1F3A"/>
                </a:solidFill>
                <a:latin typeface="Arial"/>
              </a:rPr>
              <a:t>Live SGP4 Tracking: </a:t>
            </a:r>
            <a:r>
              <a:rPr sz="1400" b="0" i="0" dirty="0">
                <a:solidFill>
                  <a:srgbClr val="1A1A1A"/>
                </a:solidFill>
                <a:latin typeface="Arial"/>
              </a:rPr>
              <a:t>Real TLEs from </a:t>
            </a:r>
            <a:r>
              <a:rPr sz="1400" b="0" i="0" dirty="0" err="1">
                <a:solidFill>
                  <a:srgbClr val="1A1A1A"/>
                </a:solidFill>
                <a:latin typeface="Arial"/>
              </a:rPr>
              <a:t>CelesTrak</a:t>
            </a:r>
            <a:r>
              <a:rPr sz="1400" b="0" i="0" dirty="0">
                <a:solidFill>
                  <a:srgbClr val="1A1A1A"/>
                </a:solidFill>
                <a:latin typeface="Arial"/>
              </a:rPr>
              <a:t>; ISRO fleet tracking via satellite.js.</a:t>
            </a:r>
          </a:p>
          <a:p>
            <a:pPr marL="228600" indent="-228600">
              <a:buFont typeface="Arial"/>
              <a:buChar char="•"/>
            </a:pPr>
            <a:r>
              <a:rPr sz="1400" b="1" i="0" dirty="0">
                <a:solidFill>
                  <a:srgbClr val="0B1F3A"/>
                </a:solidFill>
                <a:latin typeface="Arial"/>
              </a:rPr>
              <a:t>CCSDS CDM Exporter: </a:t>
            </a:r>
            <a:r>
              <a:rPr sz="1400" b="0" i="0" dirty="0">
                <a:solidFill>
                  <a:srgbClr val="1A1A1A"/>
                </a:solidFill>
                <a:latin typeface="Arial"/>
              </a:rPr>
              <a:t>XML/JSON/KVN (CCSDS 508.0-B-1) for inter-agency coordination.</a:t>
            </a:r>
          </a:p>
          <a:p>
            <a:pPr>
              <a:buNone/>
            </a:pPr>
            <a:endParaRPr lang="en-IN" sz="1400" b="1" i="0" dirty="0">
              <a:solidFill>
                <a:srgbClr val="0070C0"/>
              </a:solidFill>
              <a:latin typeface="Arial"/>
            </a:endParaRPr>
          </a:p>
          <a:p>
            <a:pPr>
              <a:buNone/>
            </a:pPr>
            <a:r>
              <a:rPr sz="1400" b="1" i="0" dirty="0">
                <a:solidFill>
                  <a:srgbClr val="0070C0"/>
                </a:solidFill>
                <a:latin typeface="Arial"/>
              </a:rPr>
              <a:t>How It Addresses the Problem</a:t>
            </a:r>
          </a:p>
          <a:p>
            <a:pPr marL="228600" indent="-228600">
              <a:buFont typeface="Arial"/>
              <a:buChar char="•"/>
            </a:pPr>
            <a:r>
              <a:rPr sz="1400" b="1" i="0" dirty="0">
                <a:solidFill>
                  <a:srgbClr val="0B1F3A"/>
                </a:solidFill>
                <a:latin typeface="Arial"/>
              </a:rPr>
              <a:t>Problem: </a:t>
            </a:r>
            <a:r>
              <a:rPr sz="1400" b="0" i="0" dirty="0">
                <a:solidFill>
                  <a:srgbClr val="1A1A1A"/>
                </a:solidFill>
                <a:latin typeface="Arial"/>
              </a:rPr>
              <a:t>21,000+ debris objects in LEO; Kessler risk rising. Tools are fragmented &amp; manual — warnings without burn plans.</a:t>
            </a:r>
          </a:p>
          <a:p>
            <a:pPr marL="228600" indent="-228600">
              <a:buFont typeface="Arial"/>
              <a:buChar char="•"/>
            </a:pPr>
            <a:r>
              <a:rPr sz="1400" b="1" i="0" dirty="0">
                <a:solidFill>
                  <a:srgbClr val="0B1F3A"/>
                </a:solidFill>
                <a:latin typeface="Arial"/>
              </a:rPr>
              <a:t>Solution: </a:t>
            </a:r>
            <a:r>
              <a:rPr sz="1400" b="0" i="0" dirty="0">
                <a:solidFill>
                  <a:srgbClr val="1A1A1A"/>
                </a:solidFill>
                <a:latin typeface="Arial"/>
              </a:rPr>
              <a:t>One console that detects → assesses (real physics) → recommends burn (AI) → executes autonomously. Response time: hours → minutes.</a:t>
            </a:r>
          </a:p>
          <a:p>
            <a:pPr>
              <a:buNone/>
            </a:pPr>
            <a:endParaRPr lang="en-IN" sz="1400" b="1" i="0" dirty="0">
              <a:solidFill>
                <a:srgbClr val="0070C0"/>
              </a:solidFill>
              <a:latin typeface="Arial"/>
            </a:endParaRPr>
          </a:p>
          <a:p>
            <a:pPr>
              <a:buNone/>
            </a:pPr>
            <a:r>
              <a:rPr sz="1400" b="1" i="0" dirty="0">
                <a:solidFill>
                  <a:srgbClr val="0070C0"/>
                </a:solidFill>
                <a:latin typeface="Arial"/>
              </a:rPr>
              <a:t>Innovation</a:t>
            </a:r>
          </a:p>
          <a:p>
            <a:pPr marL="228600" indent="-228600">
              <a:buFont typeface="Arial"/>
              <a:buChar char="•"/>
            </a:pPr>
            <a:r>
              <a:rPr sz="1400" b="0" i="0" dirty="0">
                <a:solidFill>
                  <a:srgbClr val="1A1A1A"/>
                </a:solidFill>
                <a:latin typeface="Arial"/>
              </a:rPr>
              <a:t>Real astrodynamics (Keplerian propagation, RK4, golden-section TCA, Foster Pc) live in browser; AI + deterministic fallback never goes dark; B-plane visualization with covariance ellipses; end-to-end autonomy from detection to execution to verification.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032683" cy="69334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SixthSense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Sixt</a:t>
            </a:r>
            <a:r>
              <a:rPr lang="en-IN" dirty="0"/>
              <a:t>h</a:t>
            </a:r>
          </a:p>
          <a:p>
            <a:pPr algn="ctr"/>
            <a:r>
              <a:rPr lang="en-IN" dirty="0"/>
              <a:t>Sense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17411" name="Table 174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104804"/>
              </p:ext>
            </p:extLst>
          </p:nvPr>
        </p:nvGraphicFramePr>
        <p:xfrm>
          <a:off x="457200" y="1149998"/>
          <a:ext cx="6391656" cy="3184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8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2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3806">
                <a:tc gridSpan="2">
                  <a:txBody>
                    <a:bodyPr/>
                    <a:lstStyle/>
                    <a:p>
                      <a:pPr algn="l"/>
                      <a:r>
                        <a:rPr sz="1150" b="1" dirty="0">
                          <a:solidFill>
                            <a:srgbClr val="FFFFFF"/>
                          </a:solidFill>
                          <a:latin typeface="Arial"/>
                        </a:rPr>
                        <a:t>Technologies Used</a:t>
                      </a:r>
                    </a:p>
                  </a:txBody>
                  <a:tcPr marL="45720" marR="45720" marT="18288" marB="18288" anchor="ctr">
                    <a:solidFill>
                      <a:srgbClr val="0B1F3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80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</a:p>
                  </a:txBody>
                  <a:tcPr marL="45720" marR="45720" marT="18288" marB="18288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dirty="0">
                          <a:solidFill>
                            <a:srgbClr val="FFFFFF"/>
                          </a:solidFill>
                          <a:latin typeface="Arial"/>
                        </a:rPr>
                        <a:t>Technology</a:t>
                      </a:r>
                    </a:p>
                  </a:txBody>
                  <a:tcPr marL="45720" marR="45720" marT="18288" marB="18288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80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Frontend</a:t>
                      </a:r>
                    </a:p>
                  </a:txBody>
                  <a:tcPr marL="45720" marR="45720" marT="18288" marB="18288" anchor="ctr"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HTML5, CSS3, Vanilla JS (ES6+), Three.js, Canvas 2D</a:t>
                      </a:r>
                    </a:p>
                  </a:txBody>
                  <a:tcPr marL="45720" marR="45720" marT="18288" marB="18288" anchor="ctr">
                    <a:solidFill>
                      <a:srgbClr val="DCE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80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Backend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Node.js, Express, TypeScript, REST API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80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AI / LLM</a:t>
                      </a:r>
                    </a:p>
                  </a:txBody>
                  <a:tcPr marL="45720" marR="45720" marT="18288" marB="18288" anchor="ctr"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AI Engine + deterministic fallback</a:t>
                      </a:r>
                    </a:p>
                  </a:txBody>
                  <a:tcPr marL="45720" marR="45720" marT="18288" marB="18288" anchor="ctr">
                    <a:solidFill>
                      <a:srgbClr val="DCE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80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Astrodynamics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A1A1A"/>
                          </a:solidFill>
                          <a:latin typeface="Arial"/>
                        </a:rPr>
                        <a:t>satellite.js (SGP4), custom Keplerian/RK4, Foster Pc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80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Orbital Data</a:t>
                      </a:r>
                    </a:p>
                  </a:txBody>
                  <a:tcPr marL="45720" marR="45720" marT="18288" marB="18288" anchor="ctr"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1A1A1A"/>
                          </a:solidFill>
                          <a:latin typeface="Arial"/>
                        </a:rPr>
                        <a:t>CelesTrak</a:t>
                      </a:r>
                      <a:r>
                        <a:rPr sz="1100" b="0" dirty="0">
                          <a:solidFill>
                            <a:srgbClr val="1A1A1A"/>
                          </a:solidFill>
                          <a:latin typeface="Arial"/>
                        </a:rPr>
                        <a:t> TLE/GP API, CCSDS 508.0-B-1 CDM</a:t>
                      </a:r>
                    </a:p>
                  </a:txBody>
                  <a:tcPr marL="45720" marR="45720" marT="18288" marB="18288" anchor="ctr">
                    <a:solidFill>
                      <a:srgbClr val="DCE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80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Deployment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1A1A1A"/>
                          </a:solidFill>
                          <a:latin typeface="Arial"/>
                        </a:rPr>
                        <a:t>Vercel</a:t>
                      </a:r>
                      <a:r>
                        <a:rPr sz="1100" b="0" dirty="0">
                          <a:solidFill>
                            <a:srgbClr val="1A1A1A"/>
                          </a:solidFill>
                          <a:latin typeface="Arial"/>
                        </a:rPr>
                        <a:t>, static CDN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380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Dev Tools</a:t>
                      </a:r>
                    </a:p>
                  </a:txBody>
                  <a:tcPr marL="45720" marR="45720" marT="18288" marB="18288" anchor="ctr"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A1A1A"/>
                          </a:solidFill>
                          <a:latin typeface="Arial"/>
                        </a:rPr>
                        <a:t>Git, </a:t>
                      </a:r>
                      <a:r>
                        <a:rPr sz="1100" b="0" dirty="0" err="1">
                          <a:solidFill>
                            <a:srgbClr val="1A1A1A"/>
                          </a:solidFill>
                          <a:latin typeface="Arial"/>
                        </a:rPr>
                        <a:t>npm</a:t>
                      </a:r>
                      <a:endParaRPr sz="1100" b="0" dirty="0">
                        <a:solidFill>
                          <a:srgbClr val="1A1A1A"/>
                        </a:solidFill>
                        <a:latin typeface="Arial"/>
                      </a:endParaRPr>
                    </a:p>
                  </a:txBody>
                  <a:tcPr marL="45720" marR="45720" marT="18288" marB="18288" anchor="ctr">
                    <a:solidFill>
                      <a:srgbClr val="DCE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D1B40E5-683E-433D-758F-FF94FF6A9F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1" y="4625868"/>
            <a:ext cx="6391656" cy="10821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6369D2-74AC-CD93-A8F1-88F28A62C12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354" b="8149"/>
          <a:stretch>
            <a:fillRect/>
          </a:stretch>
        </p:blipFill>
        <p:spPr>
          <a:xfrm>
            <a:off x="7070841" y="1059580"/>
            <a:ext cx="4959095" cy="5039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04FB30-EDC9-1B4D-5E30-7F18213D1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782" y="4796847"/>
            <a:ext cx="7094835" cy="153937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150000"/>
            <a:ext cx="5300000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tabLst/>
              <a:defRPr/>
            </a:pPr>
            <a:r>
              <a:rPr sz="1600" b="1" i="0" dirty="0">
                <a:solidFill>
                  <a:srgbClr val="0070C0"/>
                </a:solidFill>
                <a:latin typeface="Arial"/>
              </a:rPr>
              <a:t>Feasibility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228600" indent="-228600">
              <a:buFont typeface="Arial"/>
              <a:buChar char="•"/>
            </a:pPr>
            <a:r>
              <a:rPr sz="1200" b="1" i="0" dirty="0">
                <a:solidFill>
                  <a:srgbClr val="0B1F3A"/>
                </a:solidFill>
                <a:latin typeface="Arial"/>
              </a:rPr>
              <a:t>Technical — PROVEN: </a:t>
            </a:r>
            <a:r>
              <a:rPr sz="1200" b="0" i="0" dirty="0">
                <a:solidFill>
                  <a:srgbClr val="1A1A1A"/>
                </a:solidFill>
                <a:latin typeface="Arial"/>
              </a:rPr>
              <a:t>working prototype, Express/TS backend, Three.js globe, live SGP4, AI Engine</a:t>
            </a:r>
          </a:p>
          <a:p>
            <a:pPr marL="228600" indent="-228600">
              <a:buFont typeface="Arial"/>
              <a:buChar char="•"/>
            </a:pPr>
            <a:r>
              <a:rPr sz="1200" b="1" i="0" dirty="0">
                <a:solidFill>
                  <a:srgbClr val="0B1F3A"/>
                </a:solidFill>
                <a:latin typeface="Arial"/>
              </a:rPr>
              <a:t>Data — SOLVED: </a:t>
            </a:r>
            <a:r>
              <a:rPr sz="1200" b="0" i="0" dirty="0">
                <a:solidFill>
                  <a:srgbClr val="1A1A1A"/>
                </a:solidFill>
                <a:latin typeface="Arial"/>
              </a:rPr>
              <a:t>free </a:t>
            </a:r>
            <a:r>
              <a:rPr sz="1200" b="0" i="0" dirty="0" err="1">
                <a:solidFill>
                  <a:srgbClr val="1A1A1A"/>
                </a:solidFill>
                <a:latin typeface="Arial"/>
              </a:rPr>
              <a:t>CelesTrak</a:t>
            </a:r>
            <a:r>
              <a:rPr sz="1200" b="0" i="0" dirty="0">
                <a:solidFill>
                  <a:srgbClr val="1A1A1A"/>
                </a:solidFill>
                <a:latin typeface="Arial"/>
              </a:rPr>
              <a:t> GP/TLE API + offline snapshot</a:t>
            </a:r>
          </a:p>
          <a:p>
            <a:pPr marL="228600" indent="-228600">
              <a:buFont typeface="Arial"/>
              <a:buChar char="•"/>
            </a:pPr>
            <a:r>
              <a:rPr sz="1200" b="1" i="0" dirty="0">
                <a:solidFill>
                  <a:srgbClr val="0B1F3A"/>
                </a:solidFill>
                <a:latin typeface="Arial"/>
              </a:rPr>
              <a:t>Deployment — READY: </a:t>
            </a:r>
            <a:r>
              <a:rPr sz="1200" b="0" i="0" dirty="0">
                <a:solidFill>
                  <a:srgbClr val="1A1A1A"/>
                </a:solidFill>
                <a:latin typeface="Arial"/>
              </a:rPr>
              <a:t>static frontend + serverless, no special hardware</a:t>
            </a:r>
          </a:p>
          <a:p>
            <a:pPr marL="228600" indent="-228600">
              <a:buFont typeface="Arial"/>
              <a:buChar char="•"/>
            </a:pPr>
            <a:r>
              <a:rPr sz="1200" b="1" i="0" dirty="0">
                <a:solidFill>
                  <a:srgbClr val="0B1F3A"/>
                </a:solidFill>
                <a:latin typeface="Arial"/>
              </a:rPr>
              <a:t>Scalability — DESIGNED: </a:t>
            </a:r>
            <a:r>
              <a:rPr sz="1200" b="0" i="0" dirty="0">
                <a:solidFill>
                  <a:srgbClr val="1A1A1A"/>
                </a:solidFill>
                <a:latin typeface="Arial"/>
              </a:rPr>
              <a:t>TLE cache (6h refresh); horizontal scaling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Sixth Sense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050000" y="1150000"/>
            <a:ext cx="5684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600" b="1" i="0" dirty="0">
                <a:solidFill>
                  <a:srgbClr val="0070C0"/>
                </a:solidFill>
                <a:latin typeface="Arial"/>
              </a:rPr>
              <a:t>Strategies</a:t>
            </a:r>
          </a:p>
          <a:p>
            <a:pPr marL="228600" indent="-228600">
              <a:buFont typeface="Arial"/>
              <a:buChar char="•"/>
            </a:pPr>
            <a:r>
              <a:rPr sz="1200" b="1" i="0" dirty="0">
                <a:solidFill>
                  <a:srgbClr val="1A1A1A"/>
                </a:solidFill>
                <a:latin typeface="Arial"/>
              </a:rPr>
              <a:t>Dual-mode AI — </a:t>
            </a:r>
            <a:r>
              <a:rPr sz="1200" b="0" i="0" dirty="0">
                <a:solidFill>
                  <a:srgbClr val="1A1A1A"/>
                </a:solidFill>
                <a:latin typeface="Arial"/>
              </a:rPr>
              <a:t>rich reasoning + deterministic fallback; never goes dark</a:t>
            </a:r>
          </a:p>
          <a:p>
            <a:pPr marL="228600" indent="-228600">
              <a:buFont typeface="Arial"/>
              <a:buChar char="•"/>
            </a:pPr>
            <a:r>
              <a:rPr sz="1200" b="1" i="0" dirty="0">
                <a:solidFill>
                  <a:srgbClr val="1A1A1A"/>
                </a:solidFill>
                <a:latin typeface="Arial"/>
              </a:rPr>
              <a:t>CCSDS compliance — </a:t>
            </a:r>
            <a:r>
              <a:rPr sz="1200" b="0" i="0" dirty="0">
                <a:solidFill>
                  <a:srgbClr val="1A1A1A"/>
                </a:solidFill>
                <a:latin typeface="Arial"/>
              </a:rPr>
              <a:t>interoperable with ISRO, NASA CARA, ESA</a:t>
            </a:r>
          </a:p>
          <a:p>
            <a:pPr marL="228600" indent="-228600">
              <a:buFont typeface="Arial"/>
              <a:buChar char="•"/>
            </a:pPr>
            <a:r>
              <a:rPr sz="1200" b="1" i="0" dirty="0">
                <a:solidFill>
                  <a:srgbClr val="1A1A1A"/>
                </a:solidFill>
                <a:latin typeface="Arial"/>
              </a:rPr>
              <a:t>Layered autonomy — </a:t>
            </a:r>
            <a:r>
              <a:rPr sz="1200" b="0" i="0" dirty="0">
                <a:solidFill>
                  <a:srgbClr val="1A1A1A"/>
                </a:solidFill>
                <a:latin typeface="Arial"/>
              </a:rPr>
              <a:t>STANDBY → DRY RUN → ARMED</a:t>
            </a:r>
          </a:p>
          <a:p>
            <a:pPr marL="228600" indent="-228600">
              <a:buFont typeface="Arial"/>
              <a:buChar char="•"/>
            </a:pPr>
            <a:r>
              <a:rPr sz="1200" b="1" i="0" dirty="0">
                <a:solidFill>
                  <a:srgbClr val="1A1A1A"/>
                </a:solidFill>
                <a:latin typeface="Arial"/>
              </a:rPr>
              <a:t>72h forward screening — </a:t>
            </a:r>
            <a:r>
              <a:rPr sz="1200" b="0" i="0" dirty="0">
                <a:solidFill>
                  <a:srgbClr val="1A1A1A"/>
                </a:solidFill>
                <a:latin typeface="Arial"/>
              </a:rPr>
              <a:t>prevents burns creating new conjunctions</a:t>
            </a:r>
          </a:p>
        </p:txBody>
      </p:sp>
      <p:graphicFrame>
        <p:nvGraphicFramePr>
          <p:cNvPr id="17412" name="Table 174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4495028"/>
              </p:ext>
            </p:extLst>
          </p:nvPr>
        </p:nvGraphicFramePr>
        <p:xfrm>
          <a:off x="1880144" y="2596550"/>
          <a:ext cx="7754112" cy="2257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7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6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2434">
                <a:tc gridSpan="2">
                  <a:txBody>
                    <a:bodyPr/>
                    <a:lstStyle/>
                    <a:p>
                      <a:pPr algn="just"/>
                      <a:r>
                        <a:rPr sz="1150" b="1" dirty="0">
                          <a:solidFill>
                            <a:srgbClr val="FFFFFF"/>
                          </a:solidFill>
                          <a:latin typeface="Arial"/>
                        </a:rPr>
                        <a:t>Challenges &amp; Mitigations</a:t>
                      </a:r>
                    </a:p>
                  </a:txBody>
                  <a:tcPr marL="45720" marR="45720" marT="18288" marB="18288" anchor="ctr">
                    <a:solidFill>
                      <a:srgbClr val="0B1F3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434">
                <a:tc>
                  <a:txBody>
                    <a:bodyPr/>
                    <a:lstStyle/>
                    <a:p>
                      <a:pPr algn="just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Challenge</a:t>
                      </a:r>
                    </a:p>
                  </a:txBody>
                  <a:tcPr marL="45720" marR="45720" marT="18288" marB="18288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Mitigation</a:t>
                      </a:r>
                    </a:p>
                  </a:txBody>
                  <a:tcPr marL="45720" marR="45720" marT="18288" marB="18288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34">
                <a:tc>
                  <a:txBody>
                    <a:bodyPr/>
                    <a:lstStyle/>
                    <a:p>
                      <a:pPr algn="just"/>
                      <a:r>
                        <a:rPr sz="1100" b="0" dirty="0">
                          <a:solidFill>
                            <a:srgbClr val="1A1A1A"/>
                          </a:solidFill>
                          <a:latin typeface="Arial"/>
                        </a:rPr>
                        <a:t>TLE accuracy (~1 km uncertainty)</a:t>
                      </a:r>
                    </a:p>
                  </a:txBody>
                  <a:tcPr marL="45720" marR="45720" marT="18288" marB="18288" anchor="ctr"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100" b="0" dirty="0">
                          <a:solidFill>
                            <a:srgbClr val="1A1A1A"/>
                          </a:solidFill>
                          <a:latin typeface="Arial"/>
                        </a:rPr>
                        <a:t>Use latest CDM; show covariance ellipses</a:t>
                      </a:r>
                    </a:p>
                  </a:txBody>
                  <a:tcPr marL="45720" marR="45720" marT="18288" marB="18288" anchor="ctr">
                    <a:solidFill>
                      <a:srgbClr val="DCE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34">
                <a:tc>
                  <a:txBody>
                    <a:bodyPr/>
                    <a:lstStyle/>
                    <a:p>
                      <a:pPr algn="just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AI API rate limits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Deterministic astrodynamics fallback guarantees uptime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434">
                <a:tc>
                  <a:txBody>
                    <a:bodyPr/>
                    <a:lstStyle/>
                    <a:p>
                      <a:pPr algn="just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Catalog growth (~10%/yr)</a:t>
                      </a:r>
                    </a:p>
                  </a:txBody>
                  <a:tcPr marL="45720" marR="45720" marT="18288" marB="18288" anchor="ctr"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Parallel screening; per-pair cache; Pc threshold pruning</a:t>
                      </a:r>
                    </a:p>
                  </a:txBody>
                  <a:tcPr marL="45720" marR="45720" marT="18288" marB="18288" anchor="ctr">
                    <a:solidFill>
                      <a:srgbClr val="DCE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434">
                <a:tc>
                  <a:txBody>
                    <a:bodyPr/>
                    <a:lstStyle/>
                    <a:p>
                      <a:pPr algn="just"/>
                      <a:r>
                        <a:rPr sz="1100" b="0" dirty="0">
                          <a:solidFill>
                            <a:srgbClr val="1A1A1A"/>
                          </a:solidFill>
                          <a:latin typeface="Arial"/>
                        </a:rPr>
                        <a:t>Real-burn safety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100" b="0" dirty="0">
                          <a:solidFill>
                            <a:srgbClr val="1A1A1A"/>
                          </a:solidFill>
                          <a:latin typeface="Arial"/>
                        </a:rPr>
                        <a:t>72h re-screen gate; operator sign-off; DRY RUN mode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434">
                <a:tc>
                  <a:txBody>
                    <a:bodyPr/>
                    <a:lstStyle/>
                    <a:p>
                      <a:pPr algn="just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Space weather (drag)</a:t>
                      </a:r>
                    </a:p>
                  </a:txBody>
                  <a:tcPr marL="45720" marR="45720" marT="18288" marB="18288" anchor="ctr"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100" b="0" dirty="0">
                          <a:solidFill>
                            <a:srgbClr val="1A1A1A"/>
                          </a:solidFill>
                          <a:latin typeface="Arial"/>
                        </a:rPr>
                        <a:t>F10.7/</a:t>
                      </a:r>
                      <a:r>
                        <a:rPr sz="1100" b="0" dirty="0" err="1">
                          <a:solidFill>
                            <a:srgbClr val="1A1A1A"/>
                          </a:solidFill>
                          <a:latin typeface="Arial"/>
                        </a:rPr>
                        <a:t>Kp</a:t>
                      </a:r>
                      <a:r>
                        <a:rPr sz="1100" b="0" dirty="0">
                          <a:solidFill>
                            <a:srgbClr val="1A1A1A"/>
                          </a:solidFill>
                          <a:latin typeface="Arial"/>
                        </a:rPr>
                        <a:t>/drag multiplier feed covariance model</a:t>
                      </a:r>
                    </a:p>
                  </a:txBody>
                  <a:tcPr marL="45720" marR="45720" marT="18288" marB="18288" anchor="ctr">
                    <a:solidFill>
                      <a:srgbClr val="DCE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1198" y="3884056"/>
            <a:ext cx="10881641" cy="2339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tabLst/>
              <a:defRPr/>
            </a:pPr>
            <a:r>
              <a:rPr b="1" i="0" dirty="0">
                <a:solidFill>
                  <a:srgbClr val="0070C0"/>
                </a:solidFill>
                <a:latin typeface="Arial"/>
              </a:rPr>
              <a:t>Benefits</a:t>
            </a:r>
          </a:p>
          <a:p>
            <a:pPr marL="228600" indent="-228600">
              <a:buFont typeface="Arial"/>
              <a:buChar char="•"/>
            </a:pPr>
            <a:r>
              <a:rPr sz="1600" b="1" i="0" dirty="0">
                <a:solidFill>
                  <a:srgbClr val="0B1F3A"/>
                </a:solidFill>
                <a:latin typeface="Arial"/>
              </a:rPr>
              <a:t>Social: </a:t>
            </a:r>
            <a:r>
              <a:rPr sz="1600" b="0" i="0" dirty="0">
                <a:solidFill>
                  <a:srgbClr val="1A1A1A"/>
                </a:solidFill>
                <a:latin typeface="Arial"/>
              </a:rPr>
              <a:t>Protects satellite services millions depend on (weather, disaster warning, </a:t>
            </a:r>
            <a:r>
              <a:rPr sz="1600" b="0" i="0" dirty="0" err="1">
                <a:solidFill>
                  <a:srgbClr val="1A1A1A"/>
                </a:solidFill>
                <a:latin typeface="Arial"/>
              </a:rPr>
              <a:t>NavIC</a:t>
            </a:r>
            <a:r>
              <a:rPr sz="1600" b="0" i="0" dirty="0">
                <a:solidFill>
                  <a:srgbClr val="1A1A1A"/>
                </a:solidFill>
                <a:latin typeface="Arial"/>
              </a:rPr>
              <a:t>, EOS); prevents Kessler Syndrome from rendering LEO unusable.</a:t>
            </a:r>
          </a:p>
          <a:p>
            <a:pPr marL="228600" indent="-228600">
              <a:buFont typeface="Arial"/>
              <a:buChar char="•"/>
            </a:pPr>
            <a:r>
              <a:rPr sz="1600" b="1" i="0" dirty="0">
                <a:solidFill>
                  <a:srgbClr val="0B1F3A"/>
                </a:solidFill>
                <a:latin typeface="Arial"/>
              </a:rPr>
              <a:t>Economic: </a:t>
            </a:r>
            <a:r>
              <a:rPr sz="1600" b="0" i="0" dirty="0">
                <a:solidFill>
                  <a:srgbClr val="1A1A1A"/>
                </a:solidFill>
                <a:latin typeface="Arial"/>
              </a:rPr>
              <a:t>One satellite = ₹200–₹2,000 crore; avoiding one collision saves the full asset + revenue; one console replaces 5+ tools, cutting cost.</a:t>
            </a:r>
          </a:p>
          <a:p>
            <a:pPr marL="228600" indent="-228600">
              <a:buFont typeface="Arial"/>
              <a:buChar char="•"/>
            </a:pPr>
            <a:r>
              <a:rPr sz="1600" b="1" i="0" dirty="0">
                <a:solidFill>
                  <a:srgbClr val="0B1F3A"/>
                </a:solidFill>
                <a:latin typeface="Arial"/>
              </a:rPr>
              <a:t>Environmental: </a:t>
            </a:r>
            <a:r>
              <a:rPr sz="1600" b="0" i="0" dirty="0">
                <a:solidFill>
                  <a:srgbClr val="1A1A1A"/>
                </a:solidFill>
                <a:latin typeface="Arial"/>
              </a:rPr>
              <a:t>Each avoided collision prevents thousands of long-lived debris fragments; preserves LEO for future missions &amp; human spaceflight.</a:t>
            </a:r>
          </a:p>
          <a:p>
            <a:pPr marL="228600" indent="-228600">
              <a:buFont typeface="Arial"/>
              <a:buChar char="•"/>
            </a:pPr>
            <a:r>
              <a:rPr sz="1600" b="1" i="0" dirty="0">
                <a:solidFill>
                  <a:srgbClr val="0B1F3A"/>
                </a:solidFill>
                <a:latin typeface="Arial"/>
              </a:rPr>
              <a:t>Technological: </a:t>
            </a:r>
            <a:r>
              <a:rPr sz="1600" b="0" i="0" dirty="0">
                <a:solidFill>
                  <a:srgbClr val="1A1A1A"/>
                </a:solidFill>
                <a:latin typeface="Arial"/>
              </a:rPr>
              <a:t>First Indian SSA console integrating AI Engine with real astrodynamics; open, extensible architecture; live SGP4, not a simulation.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Sixth</a:t>
            </a:r>
          </a:p>
          <a:p>
            <a:pPr algn="ctr"/>
            <a:r>
              <a:rPr lang="en-US" dirty="0"/>
              <a:t>Sense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17411" name="Table 174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327542"/>
              </p:ext>
            </p:extLst>
          </p:nvPr>
        </p:nvGraphicFramePr>
        <p:xfrm>
          <a:off x="2203267" y="891824"/>
          <a:ext cx="7785463" cy="2980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1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4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6205">
                <a:tc gridSpan="2"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Impact on Audience</a:t>
                      </a:r>
                    </a:p>
                  </a:txBody>
                  <a:tcPr marL="45720" marR="45720" marT="18288" marB="18288" anchor="ctr">
                    <a:solidFill>
                      <a:srgbClr val="0B1F3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20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Audience</a:t>
                      </a:r>
                    </a:p>
                  </a:txBody>
                  <a:tcPr marL="45720" marR="45720" marT="18288" marB="18288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Impact</a:t>
                      </a:r>
                    </a:p>
                  </a:txBody>
                  <a:tcPr marL="45720" marR="45720" marT="18288" marB="18288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7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ISRO, NSIL</a:t>
                      </a:r>
                    </a:p>
                  </a:txBody>
                  <a:tcPr marL="45720" marR="45720" marT="18288" marB="18288" anchor="ctr"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Response time hours → minutes; lower satellite loss risk</a:t>
                      </a:r>
                    </a:p>
                  </a:txBody>
                  <a:tcPr marL="45720" marR="45720" marT="18288" marB="18288" anchor="ctr">
                    <a:solidFill>
                      <a:srgbClr val="DCE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205"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1A1A1A"/>
                          </a:solidFill>
                          <a:latin typeface="Arial"/>
                        </a:rPr>
                        <a:t>Mission control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One console replaces fragmented tools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7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Space traffic agencies</a:t>
                      </a:r>
                    </a:p>
                  </a:txBody>
                  <a:tcPr marL="45720" marR="45720" marT="18288" marB="18288" anchor="ctr"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A1A1A"/>
                          </a:solidFill>
                          <a:latin typeface="Arial"/>
                        </a:rPr>
                        <a:t>CCSDS CDM export enables inter-agency coordination</a:t>
                      </a:r>
                    </a:p>
                  </a:txBody>
                  <a:tcPr marL="45720" marR="45720" marT="18288" marB="18288" anchor="ctr">
                    <a:solidFill>
                      <a:srgbClr val="DCE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205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Constellation operators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Fleet-wide autonomous clearance in one click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7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Orbital environment</a:t>
                      </a:r>
                    </a:p>
                  </a:txBody>
                  <a:tcPr marL="45720" marR="45720" marT="18288" marB="18288" anchor="ctr"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A1A1A"/>
                          </a:solidFill>
                          <a:latin typeface="Arial"/>
                        </a:rPr>
                        <a:t>Prevents debris-generating collisions; fights Kessler Syndrome</a:t>
                      </a:r>
                    </a:p>
                  </a:txBody>
                  <a:tcPr marL="45720" marR="45720" marT="18288" marB="18288" anchor="ctr">
                    <a:solidFill>
                      <a:srgbClr val="DCE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150000"/>
            <a:ext cx="11277600" cy="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Sixth</a:t>
            </a:r>
          </a:p>
          <a:p>
            <a:pPr algn="ctr"/>
            <a:r>
              <a:rPr lang="en-US" dirty="0"/>
              <a:t>Sense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3D24D94-FF22-7751-4E9D-9F4C75165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390950"/>
              </p:ext>
            </p:extLst>
          </p:nvPr>
        </p:nvGraphicFramePr>
        <p:xfrm>
          <a:off x="115576" y="1258650"/>
          <a:ext cx="5514342" cy="34677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57171">
                  <a:extLst>
                    <a:ext uri="{9D8B030D-6E8A-4147-A177-3AD203B41FA5}">
                      <a16:colId xmlns:a16="http://schemas.microsoft.com/office/drawing/2014/main" val="478443271"/>
                    </a:ext>
                  </a:extLst>
                </a:gridCol>
                <a:gridCol w="2757171">
                  <a:extLst>
                    <a:ext uri="{9D8B030D-6E8A-4147-A177-3AD203B41FA5}">
                      <a16:colId xmlns:a16="http://schemas.microsoft.com/office/drawing/2014/main" val="3153650602"/>
                    </a:ext>
                  </a:extLst>
                </a:gridCol>
              </a:tblGrid>
              <a:tr h="304399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Reference</a:t>
                      </a:r>
                      <a:endParaRPr lang="en-IN" sz="1100" b="1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Description</a:t>
                      </a:r>
                      <a:endParaRPr lang="en-IN" sz="1100" b="1" dirty="0">
                        <a:effectLst/>
                      </a:endParaRP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333427453"/>
                  </a:ext>
                </a:extLst>
              </a:tr>
              <a:tr h="532697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CCSDS 508.0-B-1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CDM standard for inter-agency conjunction warnings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8957192"/>
                  </a:ext>
                </a:extLst>
              </a:tr>
              <a:tr h="821902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NASA CARA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Pc threshold framework (Critical ≥ 1×10⁻⁴, High ≥ 1×10⁻⁵)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711542277"/>
                  </a:ext>
                </a:extLst>
              </a:tr>
              <a:tr h="532697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Foster, J. L. (1992)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2D Gaussian Pc integration method used in engine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460960916"/>
                  </a:ext>
                </a:extLst>
              </a:tr>
              <a:tr h="439007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Bate, Mueller &amp; White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Fundamentals of Astrodynamics — Keplerian propagation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660211065"/>
                  </a:ext>
                </a:extLst>
              </a:tr>
              <a:tr h="532697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Vallado, D.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SGP4/SDP4 propagation, frame conversions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951250433"/>
                  </a:ext>
                </a:extLst>
              </a:tr>
              <a:tr h="304399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Tsiolkovsky equation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sz="1100" dirty="0" err="1">
                          <a:effectLst/>
                        </a:rPr>
                        <a:t>Δm</a:t>
                      </a:r>
                      <a:r>
                        <a:rPr lang="en-IN" sz="1100" dirty="0">
                          <a:effectLst/>
                        </a:rPr>
                        <a:t> = m₀(1 − e^(−ΔV/(</a:t>
                      </a:r>
                      <a:r>
                        <a:rPr lang="en-IN" sz="1100" dirty="0" err="1">
                          <a:effectLst/>
                        </a:rPr>
                        <a:t>Isp·g</a:t>
                      </a:r>
                      <a:r>
                        <a:rPr lang="en-IN" sz="1100" dirty="0">
                          <a:effectLst/>
                        </a:rPr>
                        <a:t>₀))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4017237324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BA23522-51EF-B8E1-AF52-9638B2A10B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104030"/>
              </p:ext>
            </p:extLst>
          </p:nvPr>
        </p:nvGraphicFramePr>
        <p:xfrm>
          <a:off x="6650002" y="1241323"/>
          <a:ext cx="4606262" cy="16056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3131">
                  <a:extLst>
                    <a:ext uri="{9D8B030D-6E8A-4147-A177-3AD203B41FA5}">
                      <a16:colId xmlns:a16="http://schemas.microsoft.com/office/drawing/2014/main" val="1459806493"/>
                    </a:ext>
                  </a:extLst>
                </a:gridCol>
                <a:gridCol w="2303131">
                  <a:extLst>
                    <a:ext uri="{9D8B030D-6E8A-4147-A177-3AD203B41FA5}">
                      <a16:colId xmlns:a16="http://schemas.microsoft.com/office/drawing/2014/main" val="3229334565"/>
                    </a:ext>
                  </a:extLst>
                </a:gridCol>
              </a:tblGrid>
              <a:tr h="303287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Source</a:t>
                      </a:r>
                      <a:endParaRPr lang="en-IN" sz="1100" b="1" dirty="0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Use</a:t>
                      </a:r>
                      <a:endParaRPr lang="en-IN" sz="1100" b="1">
                        <a:effectLst/>
                      </a:endParaRP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849127326"/>
                  </a:ext>
                </a:extLst>
              </a:tr>
              <a:tr h="499532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sz="1100" dirty="0" err="1">
                          <a:effectLst/>
                        </a:rPr>
                        <a:t>CelesTrak</a:t>
                      </a:r>
                      <a:endParaRPr lang="en-IN" sz="1100" dirty="0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Real TLE/GP for ISRO fleet (free, no key)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313362177"/>
                  </a:ext>
                </a:extLst>
              </a:tr>
              <a:tr h="499532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Space-Track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Catalogued object data (supplementary)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43966085"/>
                  </a:ext>
                </a:extLst>
              </a:tr>
              <a:tr h="303287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NOAA SWPC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Space weather (F10.7, </a:t>
                      </a:r>
                      <a:r>
                        <a:rPr lang="en-IN" sz="1100" dirty="0" err="1">
                          <a:effectLst/>
                        </a:rPr>
                        <a:t>Kp</a:t>
                      </a:r>
                      <a:r>
                        <a:rPr lang="en-IN" sz="1100" dirty="0">
                          <a:effectLst/>
                        </a:rPr>
                        <a:t>)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611963089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24842A9-B263-4F1F-E281-2536C1389987}"/>
              </a:ext>
            </a:extLst>
          </p:cNvPr>
          <p:cNvSpPr txBox="1"/>
          <p:nvPr/>
        </p:nvSpPr>
        <p:spPr>
          <a:xfrm>
            <a:off x="63543" y="995008"/>
            <a:ext cx="6094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Standards &amp; Methodologies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82ABC0-42D0-CBEC-0629-CA16A64749FB}"/>
              </a:ext>
            </a:extLst>
          </p:cNvPr>
          <p:cNvSpPr txBox="1"/>
          <p:nvPr/>
        </p:nvSpPr>
        <p:spPr>
          <a:xfrm>
            <a:off x="6551676" y="975223"/>
            <a:ext cx="6094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Data Sources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3A1EA26D-CD2E-40CE-0166-E8DCF9D510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660042"/>
              </p:ext>
            </p:extLst>
          </p:nvPr>
        </p:nvGraphicFramePr>
        <p:xfrm>
          <a:off x="6650002" y="3200037"/>
          <a:ext cx="4606262" cy="15622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3131">
                  <a:extLst>
                    <a:ext uri="{9D8B030D-6E8A-4147-A177-3AD203B41FA5}">
                      <a16:colId xmlns:a16="http://schemas.microsoft.com/office/drawing/2014/main" val="2368953311"/>
                    </a:ext>
                  </a:extLst>
                </a:gridCol>
                <a:gridCol w="2303131">
                  <a:extLst>
                    <a:ext uri="{9D8B030D-6E8A-4147-A177-3AD203B41FA5}">
                      <a16:colId xmlns:a16="http://schemas.microsoft.com/office/drawing/2014/main" val="650875187"/>
                    </a:ext>
                  </a:extLst>
                </a:gridCol>
              </a:tblGrid>
              <a:tr h="312441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Technology</a:t>
                      </a:r>
                      <a:endParaRPr lang="en-IN" sz="1200" b="1" dirty="0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Use</a:t>
                      </a:r>
                      <a:endParaRPr lang="en-IN" sz="1200" b="1" dirty="0">
                        <a:effectLst/>
                      </a:endParaRP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382858682"/>
                  </a:ext>
                </a:extLst>
              </a:tr>
              <a:tr h="312441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Three.js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WebGL 3D rendering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114133736"/>
                  </a:ext>
                </a:extLst>
              </a:tr>
              <a:tr h="312441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satellite.js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SGP4 propagation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337155468"/>
                  </a:ext>
                </a:extLst>
              </a:tr>
              <a:tr h="312441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AI Engine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AI Flight Director + fallback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573659823"/>
                  </a:ext>
                </a:extLst>
              </a:tr>
              <a:tr h="312441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Express.js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REST API backend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4240453859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13B5479B-4543-5B6F-AA0C-34A3E0894204}"/>
              </a:ext>
            </a:extLst>
          </p:cNvPr>
          <p:cNvSpPr txBox="1"/>
          <p:nvPr/>
        </p:nvSpPr>
        <p:spPr>
          <a:xfrm>
            <a:off x="6562084" y="2898894"/>
            <a:ext cx="6094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IN" sz="1600" b="1" i="0" dirty="0">
                <a:solidFill>
                  <a:schemeClr val="tx1"/>
                </a:solidFill>
                <a:effectLst/>
                <a:latin typeface="Calibri" pitchFamily="34" charset="0"/>
              </a:rPr>
              <a:t>Technology References</a:t>
            </a:r>
            <a:endParaRPr lang="en-IN" sz="1600" b="1" i="0" dirty="0">
              <a:solidFill>
                <a:srgbClr val="FFFFFF"/>
              </a:solidFill>
              <a:effectLst/>
              <a:latin typeface="Mona Sans VF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C7D56E1E-FB46-CF7A-9C1E-848F91F97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614163"/>
              </p:ext>
            </p:extLst>
          </p:nvPr>
        </p:nvGraphicFramePr>
        <p:xfrm>
          <a:off x="457200" y="5340436"/>
          <a:ext cx="11365992" cy="640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82996">
                  <a:extLst>
                    <a:ext uri="{9D8B030D-6E8A-4147-A177-3AD203B41FA5}">
                      <a16:colId xmlns:a16="http://schemas.microsoft.com/office/drawing/2014/main" val="361248274"/>
                    </a:ext>
                  </a:extLst>
                </a:gridCol>
                <a:gridCol w="5682996">
                  <a:extLst>
                    <a:ext uri="{9D8B030D-6E8A-4147-A177-3AD203B41FA5}">
                      <a16:colId xmlns:a16="http://schemas.microsoft.com/office/drawing/2014/main" val="3092491465"/>
                    </a:ext>
                  </a:extLst>
                </a:gridCol>
              </a:tblGrid>
              <a:tr h="554063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sz="1800" dirty="0">
                          <a:effectLst/>
                        </a:rPr>
                        <a:t>Source code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  <a:buNone/>
                      </a:pPr>
                      <a:r>
                        <a:rPr lang="en-IN" sz="1800" dirty="0">
                          <a:effectLst/>
                        </a:rPr>
                        <a:t>https://github.com/ShickenShawarma20/SOS-SafeOrbitForSatellites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782675868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88F2F78C-93C6-E763-1EA8-A51C50E7E2BA}"/>
              </a:ext>
            </a:extLst>
          </p:cNvPr>
          <p:cNvSpPr txBox="1"/>
          <p:nvPr/>
        </p:nvSpPr>
        <p:spPr>
          <a:xfrm>
            <a:off x="368808" y="5023446"/>
            <a:ext cx="61127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IN" sz="1600" b="1" i="0" dirty="0">
                <a:solidFill>
                  <a:schemeClr val="tx1"/>
                </a:solidFill>
                <a:effectLst/>
                <a:latin typeface="Calibri" pitchFamily="34" charset="0"/>
              </a:rPr>
              <a:t>Project Links</a:t>
            </a:r>
            <a:endParaRPr lang="en-IN" sz="1600" b="1" i="0" dirty="0">
              <a:solidFill>
                <a:srgbClr val="FFFFFF"/>
              </a:solidFill>
              <a:effectLst/>
              <a:latin typeface="Mona Sans VF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7562</TotalTime>
  <Words>948</Words>
  <Application>Microsoft Office PowerPoint</Application>
  <PresentationFormat>Widescreen</PresentationFormat>
  <Paragraphs>152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Mona Sans VF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vinayak pawar</cp:lastModifiedBy>
  <cp:revision>152</cp:revision>
  <dcterms:created xsi:type="dcterms:W3CDTF">2013-12-12T18:46:50Z</dcterms:created>
  <dcterms:modified xsi:type="dcterms:W3CDTF">2026-08-29T18:32:42Z</dcterms:modified>
  <cp:category/>
</cp:coreProperties>
</file>